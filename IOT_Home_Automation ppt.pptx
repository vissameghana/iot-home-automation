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67" r:id="rId3"/>
    <p:sldId id="257" r:id="rId4"/>
    <p:sldId id="258" r:id="rId5"/>
    <p:sldId id="259" r:id="rId6"/>
    <p:sldId id="260" r:id="rId7"/>
    <p:sldId id="261" r:id="rId8"/>
    <p:sldId id="262" r:id="rId9"/>
    <p:sldId id="263" r:id="rId10"/>
    <p:sldId id="264" r:id="rId11"/>
    <p:sldId id="266" r:id="rId12"/>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1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B12FE-BCC8-4C26-AD47-58931AE5D3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D0C083-7861-428B-AB14-04E99DBAB5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F46D5E-1A59-4048-8DAA-2AFE004651BE}"/>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5" name="Footer Placeholder 4">
            <a:extLst>
              <a:ext uri="{FF2B5EF4-FFF2-40B4-BE49-F238E27FC236}">
                <a16:creationId xmlns:a16="http://schemas.microsoft.com/office/drawing/2014/main" id="{EC95F32E-F4F2-459B-AFBD-27B531A26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6FCF34-7648-465B-8D0F-CB9E778F2A8F}"/>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2916749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ABFCF-3683-4179-A17E-FAF11B7EEA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B4C22EF-76F1-4A38-886F-E14FAB416B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9FBA11-8FAB-40A2-868C-54C018300DA4}"/>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5" name="Footer Placeholder 4">
            <a:extLst>
              <a:ext uri="{FF2B5EF4-FFF2-40B4-BE49-F238E27FC236}">
                <a16:creationId xmlns:a16="http://schemas.microsoft.com/office/drawing/2014/main" id="{E8670750-9E75-412F-AE04-4779264045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9DB8A1-1773-4DB6-AE1E-FED51FDC3473}"/>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488880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A9FDB-E78D-434A-A636-09193C70F1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CBA7E8-7D21-4583-A207-C938FBE2E3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AD6E2-0091-47F1-AC67-FB5DB5A67C90}"/>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5" name="Footer Placeholder 4">
            <a:extLst>
              <a:ext uri="{FF2B5EF4-FFF2-40B4-BE49-F238E27FC236}">
                <a16:creationId xmlns:a16="http://schemas.microsoft.com/office/drawing/2014/main" id="{190CFB87-C352-4876-B12C-2E705B34B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650FEF-D48D-43D6-AEEB-6362426157C9}"/>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3059875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6672-852C-447D-AF5E-CAC21A0E47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F91DE4-9FE9-43F1-B7E7-E4B287187B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2F16A4-A49B-45DA-BD02-BC99BA23D1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568EEA-4B42-4D33-BB57-75EB6F41841E}"/>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6" name="Footer Placeholder 5">
            <a:extLst>
              <a:ext uri="{FF2B5EF4-FFF2-40B4-BE49-F238E27FC236}">
                <a16:creationId xmlns:a16="http://schemas.microsoft.com/office/drawing/2014/main" id="{08CDA10B-4D94-474E-8F6B-A223C26C21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13A4D1-42D8-4BEA-8164-6FD3381718E0}"/>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99917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E0DB-349C-42E1-BB1A-5EFFF72E26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836AF2-904C-4DA4-910B-931683D921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7D814E-52C4-427D-AA46-ECA2A13B2E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4B5BB2-8BBF-4C88-86A4-F2779A9807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8A8C3F-B0C6-4EE0-A3D8-91C4E68CC2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BD938B-D5EF-4A4B-B198-4E0CFDA82D3C}"/>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8" name="Footer Placeholder 7">
            <a:extLst>
              <a:ext uri="{FF2B5EF4-FFF2-40B4-BE49-F238E27FC236}">
                <a16:creationId xmlns:a16="http://schemas.microsoft.com/office/drawing/2014/main" id="{000274AF-4A84-4083-B317-CD1969F81F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2D49F40-4621-4ECB-95A1-D06771A510F5}"/>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2435377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A8911-42A8-405A-801F-ACAAC19FC9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B9E053-BECA-493E-B76D-3521FEB7E35B}"/>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4" name="Footer Placeholder 3">
            <a:extLst>
              <a:ext uri="{FF2B5EF4-FFF2-40B4-BE49-F238E27FC236}">
                <a16:creationId xmlns:a16="http://schemas.microsoft.com/office/drawing/2014/main" id="{64A4AC05-4DFA-4D47-BB93-504AA30BDF8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188BE0-4199-4D1A-B203-8BF9B6A13904}"/>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2961438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F7FA2C-546C-44C0-B72D-C46A33011BA9}"/>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3" name="Footer Placeholder 2">
            <a:extLst>
              <a:ext uri="{FF2B5EF4-FFF2-40B4-BE49-F238E27FC236}">
                <a16:creationId xmlns:a16="http://schemas.microsoft.com/office/drawing/2014/main" id="{5A1B2B9E-75C9-4DFF-851E-A3179E6FF2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165B5D-1AFC-496D-8E5E-1DDB387B53C5}"/>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4214879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2AAFD-3D60-4B0E-A04B-913AAEB44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478EF4-9BC4-4356-98C1-AE097CF71A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D9F82B-0E1D-4172-9D77-E87E0BC28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89AB31-3101-4FEF-8158-923550A84112}"/>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6" name="Footer Placeholder 5">
            <a:extLst>
              <a:ext uri="{FF2B5EF4-FFF2-40B4-BE49-F238E27FC236}">
                <a16:creationId xmlns:a16="http://schemas.microsoft.com/office/drawing/2014/main" id="{B2F33D0B-86BC-4BC4-9062-EC9A6BD25C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F49790-B9D7-4EFE-884F-78CD65DF0436}"/>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3693314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D46F-6682-4130-BAC1-B54BE25D8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486C70-7357-444B-A844-C911D90E13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FDB840-6A4C-4700-901D-5460BD65B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8C2067-F887-4924-9B98-7FE961280595}"/>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6" name="Footer Placeholder 5">
            <a:extLst>
              <a:ext uri="{FF2B5EF4-FFF2-40B4-BE49-F238E27FC236}">
                <a16:creationId xmlns:a16="http://schemas.microsoft.com/office/drawing/2014/main" id="{4E414C1A-627D-49B8-9703-B1ABF90A7F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1D4530-ABE4-4B4B-9B2B-C7DBBB9EB921}"/>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206609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48893-C0E8-44DB-A64B-00DC60215F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A6F06E-50C6-430F-BDA1-1AA553F94B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1053B5-81F4-4819-A74C-B411CC442B23}"/>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5" name="Footer Placeholder 4">
            <a:extLst>
              <a:ext uri="{FF2B5EF4-FFF2-40B4-BE49-F238E27FC236}">
                <a16:creationId xmlns:a16="http://schemas.microsoft.com/office/drawing/2014/main" id="{40DA1C1F-E004-4F3A-98F5-2DC9446E51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A29E00-1C58-4430-91D2-E910DFD59C53}"/>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27112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3014A2-5FBE-4105-8526-92E0EAB029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CD47AF-F3AD-486A-9974-6F78FE61CE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AB399-6F34-41E9-B53D-2E51B0C1A74E}"/>
              </a:ext>
            </a:extLst>
          </p:cNvPr>
          <p:cNvSpPr>
            <a:spLocks noGrp="1"/>
          </p:cNvSpPr>
          <p:nvPr>
            <p:ph type="dt" sz="half" idx="10"/>
          </p:nvPr>
        </p:nvSpPr>
        <p:spPr/>
        <p:txBody>
          <a:bodyPr/>
          <a:lstStyle/>
          <a:p>
            <a:fld id="{7D89820D-A9AB-4C93-B345-B11838EF3E00}" type="datetimeFigureOut">
              <a:rPr lang="en-IN" smtClean="0"/>
              <a:pPr/>
              <a:t>04-01-2026</a:t>
            </a:fld>
            <a:endParaRPr lang="en-IN"/>
          </a:p>
        </p:txBody>
      </p:sp>
      <p:sp>
        <p:nvSpPr>
          <p:cNvPr id="5" name="Footer Placeholder 4">
            <a:extLst>
              <a:ext uri="{FF2B5EF4-FFF2-40B4-BE49-F238E27FC236}">
                <a16:creationId xmlns:a16="http://schemas.microsoft.com/office/drawing/2014/main" id="{EA99A361-BB05-4701-B4B0-65BE0D89C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E81191-1B60-426A-894B-8A736BE14908}"/>
              </a:ext>
            </a:extLst>
          </p:cNvPr>
          <p:cNvSpPr>
            <a:spLocks noGrp="1"/>
          </p:cNvSpPr>
          <p:nvPr>
            <p:ph type="sldNum" sz="quarter" idx="12"/>
          </p:nvPr>
        </p:nvSpPr>
        <p:spPr/>
        <p:txBody>
          <a:bodyPr/>
          <a:lstStyle/>
          <a:p>
            <a:fld id="{EE33C336-295B-42A1-80A5-D3AF9E931B69}" type="slidenum">
              <a:rPr lang="en-IN" smtClean="0"/>
              <a:pPr/>
              <a:t>‹#›</a:t>
            </a:fld>
            <a:endParaRPr lang="en-IN"/>
          </a:p>
        </p:txBody>
      </p:sp>
    </p:spTree>
    <p:extLst>
      <p:ext uri="{BB962C8B-B14F-4D97-AF65-F5344CB8AC3E}">
        <p14:creationId xmlns:p14="http://schemas.microsoft.com/office/powerpoint/2010/main" val="3818749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2BEC9A-897F-4C4E-8811-1F4E654D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F1454B-8A71-4427-97D1-D482B359AC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805478-7DCC-44FE-BC9E-B48A1CA447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89820D-A9AB-4C93-B345-B11838EF3E00}" type="datetimeFigureOut">
              <a:rPr lang="en-IN" smtClean="0"/>
              <a:pPr/>
              <a:t>04-01-2026</a:t>
            </a:fld>
            <a:endParaRPr lang="en-IN"/>
          </a:p>
        </p:txBody>
      </p:sp>
      <p:sp>
        <p:nvSpPr>
          <p:cNvPr id="5" name="Footer Placeholder 4">
            <a:extLst>
              <a:ext uri="{FF2B5EF4-FFF2-40B4-BE49-F238E27FC236}">
                <a16:creationId xmlns:a16="http://schemas.microsoft.com/office/drawing/2014/main" id="{6BDEAE54-2A52-4445-BDA2-FA7E98175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3B3033A-FEA5-4E31-B2AC-BD05A59FAA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33C336-295B-42A1-80A5-D3AF9E931B69}" type="slidenum">
              <a:rPr lang="en-IN" smtClean="0"/>
              <a:pPr/>
              <a:t>‹#›</a:t>
            </a:fld>
            <a:endParaRPr lang="en-IN"/>
          </a:p>
        </p:txBody>
      </p:sp>
    </p:spTree>
    <p:extLst>
      <p:ext uri="{BB962C8B-B14F-4D97-AF65-F5344CB8AC3E}">
        <p14:creationId xmlns:p14="http://schemas.microsoft.com/office/powerpoint/2010/main" val="55588208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F82B2C-538B-4C91-AB96-3658DD638311}"/>
              </a:ext>
            </a:extLst>
          </p:cNvPr>
          <p:cNvSpPr txBox="1"/>
          <p:nvPr/>
        </p:nvSpPr>
        <p:spPr>
          <a:xfrm>
            <a:off x="2509421" y="299837"/>
            <a:ext cx="7173156" cy="1538883"/>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IOT-BASED HOME AUTOMATION</a:t>
            </a:r>
            <a:endParaRPr lang="en-US" dirty="0"/>
          </a:p>
          <a:p>
            <a:pPr algn="ctr"/>
            <a:r>
              <a:rPr lang="en-US" sz="2400" dirty="0">
                <a:latin typeface="Times New Roman" panose="02020603050405020304" pitchFamily="18" charset="0"/>
                <a:cs typeface="Times New Roman" panose="02020603050405020304" pitchFamily="18" charset="0"/>
              </a:rPr>
              <a:t>       Shri Vishnu Engineering College for Women                               (AUTONOMOUS)</a:t>
            </a:r>
          </a:p>
          <a:p>
            <a:endParaRPr lang="en-IN" dirty="0"/>
          </a:p>
        </p:txBody>
      </p:sp>
      <p:sp>
        <p:nvSpPr>
          <p:cNvPr id="7" name="TextBox 6">
            <a:extLst>
              <a:ext uri="{FF2B5EF4-FFF2-40B4-BE49-F238E27FC236}">
                <a16:creationId xmlns:a16="http://schemas.microsoft.com/office/drawing/2014/main" id="{C0F91439-3579-4455-9DBA-20F465DF8DE1}"/>
              </a:ext>
            </a:extLst>
          </p:cNvPr>
          <p:cNvSpPr txBox="1"/>
          <p:nvPr/>
        </p:nvSpPr>
        <p:spPr>
          <a:xfrm>
            <a:off x="8282274" y="4856889"/>
            <a:ext cx="5238036"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Project Associates:</a:t>
            </a:r>
          </a:p>
          <a:p>
            <a:r>
              <a:rPr lang="en-US" dirty="0"/>
              <a:t>V. J S Meghana(23B01A0255)</a:t>
            </a:r>
          </a:p>
          <a:p>
            <a:r>
              <a:rPr lang="en-US" dirty="0" err="1">
                <a:latin typeface="Times New Roman" panose="02020603050405020304" pitchFamily="18" charset="0"/>
                <a:cs typeface="Times New Roman" panose="02020603050405020304" pitchFamily="18" charset="0"/>
              </a:rPr>
              <a:t>P.Suseela</a:t>
            </a:r>
            <a:r>
              <a:rPr lang="en-US" dirty="0">
                <a:latin typeface="Times New Roman" panose="02020603050405020304" pitchFamily="18" charset="0"/>
                <a:cs typeface="Times New Roman" panose="02020603050405020304" pitchFamily="18" charset="0"/>
              </a:rPr>
              <a:t> Devi(</a:t>
            </a:r>
            <a:r>
              <a:rPr lang="en-US" dirty="0"/>
              <a:t>23B01A0240</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 Mounika(</a:t>
            </a:r>
            <a:r>
              <a:rPr lang="en-US" dirty="0"/>
              <a:t>23B01A0242</a:t>
            </a:r>
            <a:r>
              <a:rPr lang="en-US" dirty="0">
                <a:latin typeface="Times New Roman" panose="02020603050405020304" pitchFamily="18" charset="0"/>
                <a:cs typeface="Times New Roman" panose="02020603050405020304" pitchFamily="18" charset="0"/>
              </a:rPr>
              <a:t>)</a:t>
            </a:r>
          </a:p>
          <a:p>
            <a:r>
              <a:rPr lang="en-US" dirty="0" err="1">
                <a:latin typeface="Times New Roman" panose="02020603050405020304" pitchFamily="18" charset="0"/>
                <a:cs typeface="Times New Roman" panose="02020603050405020304" pitchFamily="18" charset="0"/>
              </a:rPr>
              <a:t>K.Kundana</a:t>
            </a:r>
            <a:r>
              <a:rPr lang="en-US" dirty="0">
                <a:latin typeface="Times New Roman" panose="02020603050405020304" pitchFamily="18" charset="0"/>
                <a:cs typeface="Times New Roman" panose="02020603050405020304" pitchFamily="18" charset="0"/>
              </a:rPr>
              <a:t> Sai(</a:t>
            </a:r>
            <a:r>
              <a:rPr lang="en-US" dirty="0"/>
              <a:t>24B05A0206</a:t>
            </a:r>
            <a:r>
              <a:rPr lang="en-US" dirty="0">
                <a:latin typeface="Times New Roman" panose="02020603050405020304" pitchFamily="18" charset="0"/>
                <a:cs typeface="Times New Roman" panose="02020603050405020304" pitchFamily="18" charset="0"/>
              </a:rPr>
              <a:t>)</a:t>
            </a:r>
          </a:p>
        </p:txBody>
      </p:sp>
      <p:sp>
        <p:nvSpPr>
          <p:cNvPr id="8" name="TextBox 7">
            <a:extLst>
              <a:ext uri="{FF2B5EF4-FFF2-40B4-BE49-F238E27FC236}">
                <a16:creationId xmlns:a16="http://schemas.microsoft.com/office/drawing/2014/main" id="{632AE5E1-69E7-48C5-8EA1-CF53B69D92DA}"/>
              </a:ext>
            </a:extLst>
          </p:cNvPr>
          <p:cNvSpPr txBox="1"/>
          <p:nvPr/>
        </p:nvSpPr>
        <p:spPr>
          <a:xfrm>
            <a:off x="1002607" y="4827964"/>
            <a:ext cx="2368858" cy="13234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Project Guide:</a:t>
            </a:r>
          </a:p>
          <a:p>
            <a:r>
              <a:rPr lang="en-US" sz="2000" dirty="0" err="1">
                <a:latin typeface="Times New Roman" panose="02020603050405020304" pitchFamily="18" charset="0"/>
                <a:cs typeface="Times New Roman" panose="02020603050405020304" pitchFamily="18" charset="0"/>
              </a:rPr>
              <a:t>Ms.G.Bharathi</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Sr. Asst Professor</a:t>
            </a:r>
          </a:p>
          <a:p>
            <a:r>
              <a:rPr lang="en-US" sz="2000" dirty="0">
                <a:latin typeface="Times New Roman" panose="02020603050405020304" pitchFamily="18" charset="0"/>
                <a:cs typeface="Times New Roman" panose="02020603050405020304" pitchFamily="18" charset="0"/>
              </a:rPr>
              <a:t>Department of EEE</a:t>
            </a:r>
            <a:endParaRPr lang="en-IN" sz="2000" dirty="0">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D54D3E82-40F7-4AD1-A923-E067ADA27EC6}"/>
              </a:ext>
            </a:extLst>
          </p:cNvPr>
          <p:cNvSpPr>
            <a:spLocks noChangeAspect="1" noChangeArrowheads="1"/>
          </p:cNvSpPr>
          <p:nvPr/>
        </p:nvSpPr>
        <p:spPr bwMode="auto">
          <a:xfrm>
            <a:off x="5060273" y="3276600"/>
            <a:ext cx="3400146" cy="10823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9C656A99-55D4-423F-877C-292A7FA874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1448" y="1538307"/>
            <a:ext cx="1589103" cy="1624244"/>
          </a:xfrm>
          <a:prstGeom prst="rect">
            <a:avLst/>
          </a:prstGeom>
        </p:spPr>
      </p:pic>
      <p:sp>
        <p:nvSpPr>
          <p:cNvPr id="3" name="TextBox 2">
            <a:extLst>
              <a:ext uri="{FF2B5EF4-FFF2-40B4-BE49-F238E27FC236}">
                <a16:creationId xmlns:a16="http://schemas.microsoft.com/office/drawing/2014/main" id="{7A834160-8760-61C4-8864-3CB988571B8A}"/>
              </a:ext>
            </a:extLst>
          </p:cNvPr>
          <p:cNvSpPr txBox="1"/>
          <p:nvPr/>
        </p:nvSpPr>
        <p:spPr>
          <a:xfrm>
            <a:off x="3310657" y="3343273"/>
            <a:ext cx="6254316" cy="101566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Shri Vishnu Engineering College For Women</a:t>
            </a:r>
          </a:p>
          <a:p>
            <a:r>
              <a:rPr lang="en-US" sz="2000" dirty="0">
                <a:latin typeface="Times New Roman" panose="02020603050405020304" pitchFamily="18" charset="0"/>
                <a:cs typeface="Times New Roman" panose="02020603050405020304" pitchFamily="18" charset="0"/>
              </a:rPr>
              <a:t>	                (Autonomous)</a:t>
            </a:r>
          </a:p>
          <a:p>
            <a:r>
              <a:rPr lang="en-US" sz="2000" dirty="0">
                <a:latin typeface="Times New Roman" panose="02020603050405020304" pitchFamily="18" charset="0"/>
                <a:cs typeface="Times New Roman" panose="02020603050405020304" pitchFamily="18" charset="0"/>
              </a:rPr>
              <a:t>Department of Electrical and Electronics Engineering</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2E0AAAF-AB17-0256-80F7-13AC4F775EC4}"/>
              </a:ext>
            </a:extLst>
          </p:cNvPr>
          <p:cNvPicPr>
            <a:picLocks noChangeAspect="1" noChangeArrowheads="1"/>
          </p:cNvPicPr>
          <p:nvPr/>
        </p:nvPicPr>
        <p:blipFill>
          <a:blip r:embed="rId3"/>
          <a:srcRect/>
          <a:stretch>
            <a:fillRect/>
          </a:stretch>
        </p:blipFill>
        <p:spPr bwMode="auto">
          <a:xfrm>
            <a:off x="214332" y="105056"/>
            <a:ext cx="2063750" cy="698500"/>
          </a:xfrm>
          <a:prstGeom prst="rect">
            <a:avLst/>
          </a:prstGeom>
          <a:noFill/>
          <a:ln w="9525">
            <a:noFill/>
            <a:miter lim="800000"/>
            <a:headEnd/>
            <a:tailEnd/>
          </a:ln>
          <a:effectLst/>
        </p:spPr>
      </p:pic>
    </p:spTree>
    <p:extLst>
      <p:ext uri="{BB962C8B-B14F-4D97-AF65-F5344CB8AC3E}">
        <p14:creationId xmlns:p14="http://schemas.microsoft.com/office/powerpoint/2010/main" val="4165757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C3135-DEDE-0D54-44E2-52454D648DCF}"/>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Problem Statement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B46310B-DD25-741D-6BB2-11E6EE8E28B3}"/>
              </a:ext>
            </a:extLst>
          </p:cNvPr>
          <p:cNvSpPr>
            <a:spLocks noGrp="1"/>
          </p:cNvSpPr>
          <p:nvPr>
            <p:ph idx="1"/>
          </p:nvPr>
        </p:nvSpPr>
        <p:spPr>
          <a:xfrm>
            <a:off x="838200" y="1510992"/>
            <a:ext cx="10515600" cy="4351338"/>
          </a:xfrm>
        </p:spPr>
        <p:txBody>
          <a:bodyPr/>
          <a:lstStyle/>
          <a:p>
            <a:pPr marL="0" indent="0">
              <a:buNone/>
            </a:pPr>
            <a:r>
              <a:rPr lang="en-US" sz="2000" dirty="0">
                <a:latin typeface="Times New Roman" panose="02020603050405020304" pitchFamily="18" charset="0"/>
                <a:cs typeface="Times New Roman" panose="02020603050405020304" pitchFamily="18" charset="0"/>
              </a:rPr>
              <a:t>In many households, electrical appliances are operated manually and lack remote access, leading to inconvenience and inefficient energy usage. Users often forget to switch off appliances when they are away from home, resulting in unnecessary power consumption and increased electricity bills. Existing automation solutions are either expensive, complex, or fully dependent on internet connectivity, making them unreliable in certain situations. Hence, there is a need for a simple, affordable, and flexible home automation system that provides both smart and manual control.</a:t>
            </a:r>
          </a:p>
          <a:p>
            <a:pPr marL="0" indent="0">
              <a:buNone/>
            </a:pPr>
            <a:r>
              <a:rPr lang="en-US" sz="2000" b="1" dirty="0">
                <a:latin typeface="Times New Roman" panose="02020603050405020304" pitchFamily="18" charset="0"/>
                <a:cs typeface="Times New Roman" panose="02020603050405020304" pitchFamily="18" charset="0"/>
              </a:rPr>
              <a:t>Key Problems Identified:</a:t>
            </a:r>
          </a:p>
          <a:p>
            <a:r>
              <a:rPr lang="en-US" sz="2000" dirty="0">
                <a:latin typeface="Times New Roman" panose="02020603050405020304" pitchFamily="18" charset="0"/>
                <a:cs typeface="Times New Roman" panose="02020603050405020304" pitchFamily="18" charset="0"/>
              </a:rPr>
              <a:t>Lack of remote control over household appliances</a:t>
            </a:r>
          </a:p>
          <a:p>
            <a:r>
              <a:rPr lang="en-US" sz="2000" dirty="0">
                <a:latin typeface="Times New Roman" panose="02020603050405020304" pitchFamily="18" charset="0"/>
                <a:cs typeface="Times New Roman" panose="02020603050405020304" pitchFamily="18" charset="0"/>
              </a:rPr>
              <a:t>Energy wastage due to appliances left ON unintentionally</a:t>
            </a:r>
          </a:p>
          <a:p>
            <a:r>
              <a:rPr lang="en-US" sz="2000" dirty="0">
                <a:latin typeface="Times New Roman" panose="02020603050405020304" pitchFamily="18" charset="0"/>
                <a:cs typeface="Times New Roman" panose="02020603050405020304" pitchFamily="18" charset="0"/>
              </a:rPr>
              <a:t>High cost and complexity of existing automation systems</a:t>
            </a:r>
          </a:p>
          <a:p>
            <a:r>
              <a:rPr lang="en-US" sz="2000" dirty="0">
                <a:latin typeface="Times New Roman" panose="02020603050405020304" pitchFamily="18" charset="0"/>
                <a:cs typeface="Times New Roman" panose="02020603050405020304" pitchFamily="18" charset="0"/>
              </a:rPr>
              <a:t>Dependence on internet connectivity without manual backup</a:t>
            </a:r>
          </a:p>
          <a:p>
            <a:endParaRPr lang="en-IN" dirty="0"/>
          </a:p>
        </p:txBody>
      </p:sp>
    </p:spTree>
    <p:extLst>
      <p:ext uri="{BB962C8B-B14F-4D97-AF65-F5344CB8AC3E}">
        <p14:creationId xmlns:p14="http://schemas.microsoft.com/office/powerpoint/2010/main" val="1733824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EAF019-E039-4CDA-BB37-24693ACBFA39}"/>
              </a:ext>
            </a:extLst>
          </p:cNvPr>
          <p:cNvSpPr/>
          <p:nvPr/>
        </p:nvSpPr>
        <p:spPr>
          <a:xfrm>
            <a:off x="960120" y="1536474"/>
            <a:ext cx="10271760" cy="347787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Home Automation system using IOT is a system that uses computers or mobile devices control basic home functions and features automatically through internet from anywhere. It is meant to save the electric power and human energy. The home automation system differs from other system by allowing the user to operate the system from anywhere through internet connection. It involves the creation of the system that can operate, control and monitor various tasks.</a:t>
            </a:r>
          </a:p>
          <a:p>
            <a:pPr algn="just"/>
            <a:r>
              <a:rPr lang="en-US" sz="2000" dirty="0">
                <a:latin typeface="Times New Roman" panose="02020603050405020304" pitchFamily="18" charset="0"/>
                <a:cs typeface="Times New Roman" panose="02020603050405020304" pitchFamily="18" charset="0"/>
              </a:rPr>
              <a:t>                        This Automation can be applied in various applications including Manufacturing, Agriculture, IT and many applications. This system is designed to be low cost and expandable allowing a variety of devices to be controlled .Electrical and Electronic appliances in the home such as fan, lights, outdoor lights, fire alarm, kitchen timer, etc., can be controlled using various control techniques. In recent years, wireless systems like Wi Fi have become more and more common in home networking.</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71A1B05-92CA-45ED-B438-0EFE2D389F7C}"/>
              </a:ext>
            </a:extLst>
          </p:cNvPr>
          <p:cNvSpPr txBox="1"/>
          <p:nvPr/>
        </p:nvSpPr>
        <p:spPr>
          <a:xfrm>
            <a:off x="102009" y="815750"/>
            <a:ext cx="319605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Abstract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515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C8881B-4D64-45A1-B954-D33E95BF3CC8}"/>
              </a:ext>
            </a:extLst>
          </p:cNvPr>
          <p:cNvSpPr txBox="1"/>
          <p:nvPr/>
        </p:nvSpPr>
        <p:spPr>
          <a:xfrm>
            <a:off x="855180" y="790112"/>
            <a:ext cx="315418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Objectives</a:t>
            </a:r>
          </a:p>
        </p:txBody>
      </p:sp>
      <p:sp>
        <p:nvSpPr>
          <p:cNvPr id="5" name="Rectangle 2">
            <a:extLst>
              <a:ext uri="{FF2B5EF4-FFF2-40B4-BE49-F238E27FC236}">
                <a16:creationId xmlns:a16="http://schemas.microsoft.com/office/drawing/2014/main" id="{C1535BCE-F789-67FE-9D38-7F166AD5E7D8}"/>
              </a:ext>
            </a:extLst>
          </p:cNvPr>
          <p:cNvSpPr>
            <a:spLocks noChangeArrowheads="1"/>
          </p:cNvSpPr>
          <p:nvPr/>
        </p:nvSpPr>
        <p:spPr bwMode="auto">
          <a:xfrm>
            <a:off x="953149" y="1526465"/>
            <a:ext cx="1028570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enable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control of household appliances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mobile applications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assistants such as Google Assistant and Alexa.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energy consumption and power wastage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providing efficient appliance control.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ensure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reliable operation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incorporating both smart control and manual switch modes.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user-friendly, and scalable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solution suitable for real-world home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 applications.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develop an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IoT-based home automation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the ESP32 microcontroller.</a:t>
            </a:r>
          </a:p>
        </p:txBody>
      </p:sp>
    </p:spTree>
    <p:extLst>
      <p:ext uri="{BB962C8B-B14F-4D97-AF65-F5344CB8AC3E}">
        <p14:creationId xmlns:p14="http://schemas.microsoft.com/office/powerpoint/2010/main" val="1765093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460F97-8BC0-4367-9CA8-35EADA9E0A6C}"/>
              </a:ext>
            </a:extLst>
          </p:cNvPr>
          <p:cNvSpPr txBox="1"/>
          <p:nvPr/>
        </p:nvSpPr>
        <p:spPr>
          <a:xfrm>
            <a:off x="959839" y="714115"/>
            <a:ext cx="41866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Components Required</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F6F35CE-0DE7-459F-9357-899BB5EA2D9E}"/>
              </a:ext>
            </a:extLst>
          </p:cNvPr>
          <p:cNvSpPr txBox="1"/>
          <p:nvPr/>
        </p:nvSpPr>
        <p:spPr>
          <a:xfrm>
            <a:off x="1812167" y="1582340"/>
            <a:ext cx="4195665" cy="369331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Components for Hardware</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ESP 32 Dev Module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4 Channel Relay Module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Jumper Wires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Manual Switches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4 Bulbs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Components for  Software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Arduino IDE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ESP Rain Maker App</a:t>
            </a:r>
          </a:p>
          <a:p>
            <a:endParaRPr lang="en-US"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2351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F7ABED-D1DD-45E7-81E7-AA9CF070F4BC}"/>
              </a:ext>
            </a:extLst>
          </p:cNvPr>
          <p:cNvSpPr txBox="1"/>
          <p:nvPr/>
        </p:nvSpPr>
        <p:spPr>
          <a:xfrm>
            <a:off x="1261679" y="816459"/>
            <a:ext cx="29651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Block Diagram</a:t>
            </a:r>
            <a:endParaRPr lang="en-IN" sz="2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F9C9177-40D3-03DD-517E-EF09F559D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212" y="1278124"/>
            <a:ext cx="6505575" cy="5170527"/>
          </a:xfrm>
          <a:prstGeom prst="rect">
            <a:avLst/>
          </a:prstGeom>
        </p:spPr>
      </p:pic>
    </p:spTree>
    <p:extLst>
      <p:ext uri="{BB962C8B-B14F-4D97-AF65-F5344CB8AC3E}">
        <p14:creationId xmlns:p14="http://schemas.microsoft.com/office/powerpoint/2010/main" val="3260274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3D5456-DC36-4167-BA9F-7CE9791EC882}"/>
              </a:ext>
            </a:extLst>
          </p:cNvPr>
          <p:cNvSpPr txBox="1"/>
          <p:nvPr/>
        </p:nvSpPr>
        <p:spPr>
          <a:xfrm>
            <a:off x="349796" y="218234"/>
            <a:ext cx="11105186" cy="6894195"/>
          </a:xfrm>
          <a:prstGeom prst="rect">
            <a:avLst/>
          </a:prstGeom>
          <a:noFill/>
        </p:spPr>
        <p:txBody>
          <a:bodyPr wrap="square">
            <a:spAutoFit/>
          </a:bodyPr>
          <a:lstStyle/>
          <a:p>
            <a:r>
              <a:rPr lang="en-US" sz="2000" b="1" dirty="0" err="1">
                <a:latin typeface="Times New Roman" panose="02020603050405020304" pitchFamily="18" charset="0"/>
                <a:cs typeface="Times New Roman" panose="02020603050405020304" pitchFamily="18" charset="0"/>
              </a:rPr>
              <a:t>Methodlogy</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methodology of this project design includes the implementation of the proposed method. Here we have divided into two main categories.</a:t>
            </a:r>
          </a:p>
          <a:p>
            <a:pPr marL="0" indent="0">
              <a:buNone/>
            </a:pPr>
            <a:r>
              <a:rPr lang="en-US" sz="2000" dirty="0">
                <a:latin typeface="Times New Roman" panose="02020603050405020304" pitchFamily="18" charset="0"/>
                <a:cs typeface="Times New Roman" panose="02020603050405020304" pitchFamily="18" charset="0"/>
              </a:rPr>
              <a:t>      1. Hardware</a:t>
            </a:r>
          </a:p>
          <a:p>
            <a:pPr marL="0" indent="0">
              <a:buNone/>
            </a:pPr>
            <a:r>
              <a:rPr lang="en-US" sz="2000" dirty="0">
                <a:latin typeface="Times New Roman" panose="02020603050405020304" pitchFamily="18" charset="0"/>
                <a:cs typeface="Times New Roman" panose="02020603050405020304" pitchFamily="18" charset="0"/>
              </a:rPr>
              <a:t>      2. Software</a:t>
            </a:r>
          </a:p>
          <a:p>
            <a:pPr marL="0" indent="0">
              <a:buNone/>
            </a:pPr>
            <a:r>
              <a:rPr lang="en-US" sz="2000" b="1" dirty="0">
                <a:latin typeface="Times New Roman" panose="02020603050405020304" pitchFamily="18" charset="0"/>
                <a:cs typeface="Times New Roman" panose="02020603050405020304" pitchFamily="18" charset="0"/>
              </a:rPr>
              <a:t>1. Hardware</a:t>
            </a:r>
          </a:p>
          <a:p>
            <a:pPr marL="0" indent="0">
              <a:buNone/>
            </a:pPr>
            <a:r>
              <a:rPr lang="en-US" sz="2000" dirty="0">
                <a:latin typeface="Times New Roman" panose="02020603050405020304" pitchFamily="18" charset="0"/>
                <a:cs typeface="Times New Roman" panose="02020603050405020304" pitchFamily="18" charset="0"/>
              </a:rPr>
              <a:t> It would also be able to turn on/off specified devices, such as lights and fans. It is called the ‘Control Unit’. In this project, the hardware components are</a:t>
            </a:r>
          </a:p>
          <a:p>
            <a:pPr marL="0" indent="0">
              <a:buNone/>
            </a:pPr>
            <a:r>
              <a:rPr lang="en-US" sz="2000" dirty="0">
                <a:latin typeface="Times New Roman" panose="02020603050405020304" pitchFamily="18" charset="0"/>
                <a:cs typeface="Times New Roman" panose="02020603050405020304" pitchFamily="18" charset="0"/>
              </a:rPr>
              <a:t>•    ESP32 Dev Module</a:t>
            </a:r>
          </a:p>
          <a:p>
            <a:pPr marL="0" indent="0">
              <a:buNone/>
            </a:pPr>
            <a:r>
              <a:rPr lang="en-US" sz="2000" dirty="0">
                <a:latin typeface="Times New Roman" panose="02020603050405020304" pitchFamily="18" charset="0"/>
                <a:cs typeface="Times New Roman" panose="02020603050405020304" pitchFamily="18" charset="0"/>
              </a:rPr>
              <a:t>•    4-Channel Relay Module</a:t>
            </a:r>
          </a:p>
          <a:p>
            <a:pPr marL="0" indent="0">
              <a:buNone/>
            </a:pPr>
            <a:r>
              <a:rPr lang="en-US" sz="2000" dirty="0">
                <a:latin typeface="Times New Roman" panose="02020603050405020304" pitchFamily="18" charset="0"/>
                <a:cs typeface="Times New Roman" panose="02020603050405020304" pitchFamily="18" charset="0"/>
              </a:rPr>
              <a:t>•    Jumping wires</a:t>
            </a:r>
          </a:p>
          <a:p>
            <a:pPr marL="0" indent="0">
              <a:buNone/>
            </a:pPr>
            <a:r>
              <a:rPr lang="en-US" sz="2000" dirty="0">
                <a:latin typeface="Times New Roman" panose="02020603050405020304" pitchFamily="18" charset="0"/>
                <a:cs typeface="Times New Roman" panose="02020603050405020304" pitchFamily="18" charset="0"/>
              </a:rPr>
              <a:t>•    Manual Switches</a:t>
            </a:r>
          </a:p>
          <a:p>
            <a:pPr marL="0" indent="0">
              <a:buNone/>
            </a:pPr>
            <a:r>
              <a:rPr lang="en-US" sz="2000" b="1" dirty="0">
                <a:latin typeface="Times New Roman" panose="02020603050405020304" pitchFamily="18" charset="0"/>
                <a:cs typeface="Times New Roman" panose="02020603050405020304" pitchFamily="18" charset="0"/>
              </a:rPr>
              <a:t>2. Software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ESP32 Dev Module: </a:t>
            </a:r>
            <a:r>
              <a:rPr lang="en-US" sz="2000" dirty="0">
                <a:latin typeface="Times New Roman" panose="02020603050405020304" pitchFamily="18" charset="0"/>
                <a:ea typeface="Calibri" panose="020F0502020204030204" pitchFamily="34" charset="0"/>
                <a:cs typeface="Times New Roman" panose="02020603050405020304" pitchFamily="18" charset="0"/>
              </a:rPr>
              <a:t>ESP32 is a series of low-cost, low-power system-on-chip microcontrollers with integrated Wi-Fi and dual-mode Bluetooth. We can program the ESP32 in a variety of languages.</a:t>
            </a:r>
          </a:p>
          <a:p>
            <a:pPr algn="just"/>
            <a:r>
              <a:rPr lang="en-US" sz="2000" dirty="0">
                <a:latin typeface="Times New Roman" panose="02020603050405020304" pitchFamily="18" charset="0"/>
                <a:ea typeface="Calibri" panose="020F0502020204030204" pitchFamily="34" charset="0"/>
                <a:cs typeface="Times New Roman" panose="02020603050405020304" pitchFamily="18" charset="0"/>
              </a:rPr>
              <a:t>     Wi-Fi range –500m to 200 m.</a:t>
            </a:r>
          </a:p>
          <a:p>
            <a:pPr algn="just"/>
            <a:r>
              <a:rPr lang="en-US" sz="2000" dirty="0">
                <a:latin typeface="Times New Roman" panose="02020603050405020304" pitchFamily="18" charset="0"/>
                <a:ea typeface="Calibri" panose="020F0502020204030204" pitchFamily="34" charset="0"/>
                <a:cs typeface="Times New Roman" panose="02020603050405020304" pitchFamily="18" charset="0"/>
              </a:rPr>
              <a:t>      voltage range –2.2v to 3.6v.                                                                                             </a:t>
            </a:r>
          </a:p>
          <a:p>
            <a:pPr marL="342900" indent="-342900" algn="just">
              <a:buFont typeface="Arial" panose="020B0604020202020204" pitchFamily="34" charset="0"/>
              <a:buChar char="•"/>
            </a:pPr>
            <a:r>
              <a:rPr lang="en-IN" sz="2000" dirty="0">
                <a:latin typeface="Times New Roman" panose="02020603050405020304" pitchFamily="18" charset="0"/>
                <a:ea typeface="Calibri" panose="020F0502020204030204" pitchFamily="34" charset="0"/>
                <a:cs typeface="Times New Roman" panose="02020603050405020304" pitchFamily="18" charset="0"/>
              </a:rPr>
              <a:t> 4 Channel Relay Module</a:t>
            </a:r>
            <a:r>
              <a:rPr lang="en-IN" sz="2000" b="1"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ea typeface="Calibri" panose="020F0502020204030204" pitchFamily="34" charset="0"/>
                <a:cs typeface="Times New Roman" panose="02020603050405020304" pitchFamily="18" charset="0"/>
              </a:rPr>
              <a:t>The 4 Channel Relay Module is a convenient board which can be used to control high voltage, high current loads such as motors, lamps and AC loads. By this, we can switch on or off the different </a:t>
            </a:r>
            <a:r>
              <a:rPr lang="en-US" sz="2000" dirty="0" err="1">
                <a:latin typeface="Times New Roman" panose="02020603050405020304" pitchFamily="18" charset="0"/>
                <a:ea typeface="Calibri" panose="020F0502020204030204" pitchFamily="34" charset="0"/>
                <a:cs typeface="Times New Roman" panose="02020603050405020304" pitchFamily="18" charset="0"/>
              </a:rPr>
              <a:t>circuits.It</a:t>
            </a:r>
            <a:r>
              <a:rPr lang="en-US" sz="2000" dirty="0">
                <a:latin typeface="Times New Roman" panose="02020603050405020304" pitchFamily="18" charset="0"/>
                <a:ea typeface="Calibri" panose="020F0502020204030204" pitchFamily="34" charset="0"/>
                <a:cs typeface="Times New Roman" panose="02020603050405020304" pitchFamily="18" charset="0"/>
              </a:rPr>
              <a:t> contains 4 separate relays. </a:t>
            </a:r>
          </a:p>
          <a:p>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9564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F1F49-A9C4-4548-6059-D514A2FC344D}"/>
              </a:ext>
            </a:extLst>
          </p:cNvPr>
          <p:cNvSpPr>
            <a:spLocks noGrp="1"/>
          </p:cNvSpPr>
          <p:nvPr>
            <p:ph idx="1"/>
          </p:nvPr>
        </p:nvSpPr>
        <p:spPr>
          <a:xfrm>
            <a:off x="541176" y="289248"/>
            <a:ext cx="10691326" cy="6167535"/>
          </a:xfrm>
        </p:spPr>
        <p:txBody>
          <a:bodyPr>
            <a:normAutofit/>
          </a:bodyPr>
          <a:lstStyle/>
          <a:p>
            <a:pPr marL="0" indent="0" algn="just">
              <a:buNone/>
            </a:pPr>
            <a:endParaRPr lang="en-US" sz="20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Procedure</a:t>
            </a:r>
          </a:p>
          <a:p>
            <a:pPr marL="0" indent="0" algn="just">
              <a:buNone/>
            </a:pP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1. Connect the ESP32, 4-channel relay module, sensors and switches to the PCB as per the block diagram.</a:t>
            </a:r>
          </a:p>
          <a:p>
            <a:pPr marL="0" indent="0" algn="just">
              <a:buNone/>
            </a:pPr>
            <a:r>
              <a:rPr lang="en-US" sz="2000" dirty="0">
                <a:latin typeface="Times New Roman" panose="02020603050405020304" pitchFamily="18" charset="0"/>
                <a:cs typeface="Times New Roman" panose="02020603050405020304" pitchFamily="18" charset="0"/>
              </a:rPr>
              <a:t>2. Install the ESP32 board manager.</a:t>
            </a:r>
          </a:p>
          <a:p>
            <a:pPr marL="0" indent="0" algn="just">
              <a:buNone/>
            </a:pPr>
            <a:r>
              <a:rPr lang="en-US" sz="2000" dirty="0">
                <a:latin typeface="Times New Roman" panose="02020603050405020304" pitchFamily="18" charset="0"/>
                <a:cs typeface="Times New Roman" panose="02020603050405020304" pitchFamily="18" charset="0"/>
              </a:rPr>
              <a:t>3. Upload code to ESP32 using Arduino IDE.</a:t>
            </a:r>
          </a:p>
          <a:p>
            <a:pPr marL="0" indent="0" algn="just">
              <a:buNone/>
            </a:pPr>
            <a:r>
              <a:rPr lang="en-US" sz="2000" dirty="0">
                <a:latin typeface="Times New Roman" panose="02020603050405020304" pitchFamily="18" charset="0"/>
                <a:cs typeface="Times New Roman" panose="02020603050405020304" pitchFamily="18" charset="0"/>
              </a:rPr>
              <a:t>4. Install the ESP Rain Maker Application.</a:t>
            </a:r>
          </a:p>
          <a:p>
            <a:pPr marL="0" indent="0" algn="just">
              <a:buNone/>
            </a:pPr>
            <a:r>
              <a:rPr lang="en-US" sz="2000" dirty="0">
                <a:latin typeface="Times New Roman" panose="02020603050405020304" pitchFamily="18" charset="0"/>
                <a:cs typeface="Times New Roman" panose="02020603050405020304" pitchFamily="18" charset="0"/>
              </a:rPr>
              <a:t>5. When we command the to ESP32 get a command from the user and send it to IOT platform(App), it reads and gives back to the ESP, and then the relay will trigger the device. It acts as a switch.</a:t>
            </a:r>
          </a:p>
          <a:p>
            <a:pPr marL="0" indent="0" algn="just">
              <a:buNone/>
            </a:pPr>
            <a:r>
              <a:rPr lang="en-US" sz="2000" dirty="0">
                <a:latin typeface="Times New Roman" panose="02020603050405020304" pitchFamily="18" charset="0"/>
                <a:cs typeface="Times New Roman" panose="02020603050405020304" pitchFamily="18" charset="0"/>
              </a:rPr>
              <a:t>6. Then, after the software has executed.</a:t>
            </a:r>
          </a:p>
        </p:txBody>
      </p:sp>
    </p:spTree>
    <p:extLst>
      <p:ext uri="{BB962C8B-B14F-4D97-AF65-F5344CB8AC3E}">
        <p14:creationId xmlns:p14="http://schemas.microsoft.com/office/powerpoint/2010/main" val="324944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D7D70-5CA7-5070-8B7D-691ADFABD991}"/>
              </a:ext>
            </a:extLst>
          </p:cNvPr>
          <p:cNvSpPr>
            <a:spLocks noGrp="1"/>
          </p:cNvSpPr>
          <p:nvPr>
            <p:ph type="title"/>
          </p:nvPr>
        </p:nvSpPr>
        <p:spPr>
          <a:xfrm>
            <a:off x="687730" y="226229"/>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P</a:t>
            </a:r>
            <a:r>
              <a:rPr lang="en-IN" sz="2400" b="1" dirty="0" err="1">
                <a:latin typeface="Times New Roman" panose="02020603050405020304" pitchFamily="18" charset="0"/>
                <a:cs typeface="Times New Roman" panose="02020603050405020304" pitchFamily="18" charset="0"/>
              </a:rPr>
              <a:t>roject</a:t>
            </a:r>
            <a:r>
              <a:rPr lang="en-IN" sz="2400" b="1" dirty="0">
                <a:latin typeface="Times New Roman" panose="02020603050405020304" pitchFamily="18" charset="0"/>
                <a:cs typeface="Times New Roman" panose="02020603050405020304" pitchFamily="18" charset="0"/>
              </a:rPr>
              <a:t> Outcome</a:t>
            </a:r>
          </a:p>
        </p:txBody>
      </p:sp>
      <p:sp>
        <p:nvSpPr>
          <p:cNvPr id="6" name="Content Placeholder 5">
            <a:extLst>
              <a:ext uri="{FF2B5EF4-FFF2-40B4-BE49-F238E27FC236}">
                <a16:creationId xmlns:a16="http://schemas.microsoft.com/office/drawing/2014/main" id="{800D9EC2-A2F8-B883-0273-CB45494202A9}"/>
              </a:ext>
            </a:extLst>
          </p:cNvPr>
          <p:cNvSpPr>
            <a:spLocks noGrp="1"/>
          </p:cNvSpPr>
          <p:nvPr>
            <p:ph idx="1"/>
          </p:nvPr>
        </p:nvSpPr>
        <p:spPr>
          <a:xfrm>
            <a:off x="687730" y="1420511"/>
            <a:ext cx="10515600" cy="4351338"/>
          </a:xfrm>
        </p:spPr>
        <p:txBody>
          <a:bodyPr>
            <a:normAutofit/>
          </a:bodyPr>
          <a:lstStyle/>
          <a:p>
            <a:pPr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Successfully designed and implemented an IoT-based home automation system using the ESP32 microcontroller.</a:t>
            </a:r>
          </a:p>
          <a:p>
            <a:pPr marL="0" indent="0" eaLnBrk="0" fontAlgn="base" hangingPunct="0">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Household appliances were controlled effectively through Google Assistant, Amazon Alexa, mobile application, and manual switches.</a:t>
            </a: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The system demonstrated reliable operation both with and without internet connectivity, ensuring uninterrupted control.</a:t>
            </a: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The project helped in reducing energy wastage by enabling timely ON/OFF control of appliances.</a:t>
            </a: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 low-cost, scalable, and user-friendly solution was achieved, suitable for practical smart home applications.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041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07B4BE-27E1-31F4-EEB7-1D6542B773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1" y="519765"/>
            <a:ext cx="4466122" cy="5813658"/>
          </a:xfrm>
          <a:prstGeom prst="rect">
            <a:avLst/>
          </a:prstGeom>
        </p:spPr>
      </p:pic>
      <p:pic>
        <p:nvPicPr>
          <p:cNvPr id="5" name="Picture 4">
            <a:extLst>
              <a:ext uri="{FF2B5EF4-FFF2-40B4-BE49-F238E27FC236}">
                <a16:creationId xmlns:a16="http://schemas.microsoft.com/office/drawing/2014/main" id="{857E2E5E-3667-D1E9-2D3A-32C49D218E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3047" y="519765"/>
            <a:ext cx="4572001" cy="5702968"/>
          </a:xfrm>
          <a:prstGeom prst="rect">
            <a:avLst/>
          </a:prstGeom>
        </p:spPr>
      </p:pic>
    </p:spTree>
    <p:extLst>
      <p:ext uri="{BB962C8B-B14F-4D97-AF65-F5344CB8AC3E}">
        <p14:creationId xmlns:p14="http://schemas.microsoft.com/office/powerpoint/2010/main" val="1516521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D82877-67D4-4186-9DA4-E0D1CB5FEFA0}"/>
              </a:ext>
            </a:extLst>
          </p:cNvPr>
          <p:cNvSpPr txBox="1"/>
          <p:nvPr/>
        </p:nvSpPr>
        <p:spPr>
          <a:xfrm>
            <a:off x="3048000" y="3244334"/>
            <a:ext cx="6096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Thank you</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26600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871</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PowerPoint Presentation</vt:lpstr>
      <vt:lpstr>Problem Statement</vt:lpstr>
      <vt:lpstr>PowerPoint Presentation</vt:lpstr>
      <vt:lpstr>PowerPoint Presentation</vt:lpstr>
      <vt:lpstr>PowerPoint Presentation</vt:lpstr>
      <vt:lpstr>PowerPoint Presentation</vt:lpstr>
      <vt:lpstr>PowerPoint Presentation</vt:lpstr>
      <vt:lpstr>PowerPoint Presentation</vt:lpstr>
      <vt:lpstr>Project Outcome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vissa meghana</cp:lastModifiedBy>
  <cp:revision>2</cp:revision>
  <dcterms:modified xsi:type="dcterms:W3CDTF">2026-01-04T18:03:07Z</dcterms:modified>
</cp:coreProperties>
</file>